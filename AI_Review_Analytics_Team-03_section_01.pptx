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63" r:id="rId3"/>
    <p:sldId id="259" r:id="rId4"/>
    <p:sldId id="258" r:id="rId5"/>
    <p:sldId id="260" r:id="rId6"/>
    <p:sldId id="261" r:id="rId7"/>
    <p:sldId id="264" r:id="rId8"/>
    <p:sldId id="262" r:id="rId9"/>
    <p:sldId id="265"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9" d="100"/>
          <a:sy n="69" d="100"/>
        </p:scale>
        <p:origin x="1200"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E408F0-83F3-4A82-A2E2-198E551A9CF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89FD3A2-ADB6-420C-823F-7CADA9919104}">
      <dgm:prSet/>
      <dgm:spPr/>
      <dgm:t>
        <a:bodyPr/>
        <a:lstStyle/>
        <a:p>
          <a:pPr>
            <a:lnSpc>
              <a:spcPct val="100000"/>
            </a:lnSpc>
          </a:pPr>
          <a:r>
            <a:rPr lang="en-US" dirty="0"/>
            <a:t>This project implements machine learning-driven sentiment analysis to automatically analyze customer reviews and extract actionable insights. The approach includes algorithms like Naïve Bayes, Decision Tree, and Random Forest to analysis the data to reveal trends in positive and negative feedbacks.</a:t>
          </a:r>
        </a:p>
      </dgm:t>
    </dgm:pt>
    <dgm:pt modelId="{F174C401-70FC-4C31-AD79-F6842154C85C}" type="parTrans" cxnId="{4851B199-EDB9-4D7A-A8A2-D051D1D1D1CA}">
      <dgm:prSet/>
      <dgm:spPr/>
      <dgm:t>
        <a:bodyPr/>
        <a:lstStyle/>
        <a:p>
          <a:endParaRPr lang="en-US"/>
        </a:p>
      </dgm:t>
    </dgm:pt>
    <dgm:pt modelId="{F9A9455D-E6AD-43BB-AB5A-39C9042D6371}" type="sibTrans" cxnId="{4851B199-EDB9-4D7A-A8A2-D051D1D1D1CA}">
      <dgm:prSet/>
      <dgm:spPr/>
      <dgm:t>
        <a:bodyPr/>
        <a:lstStyle/>
        <a:p>
          <a:endParaRPr lang="en-US"/>
        </a:p>
      </dgm:t>
    </dgm:pt>
    <dgm:pt modelId="{4965DD2D-8877-415B-A524-EA7D10601B59}">
      <dgm:prSet/>
      <dgm:spPr/>
      <dgm:t>
        <a:bodyPr/>
        <a:lstStyle/>
        <a:p>
          <a:pPr>
            <a:lnSpc>
              <a:spcPct val="100000"/>
            </a:lnSpc>
          </a:pPr>
          <a:r>
            <a:rPr lang="en-US"/>
            <a:t>This automated analysis helps businesses efficiently identify customer pain points and product strengths, enabling data-driven product improvements and ultimately enhancing customer satisfaction.</a:t>
          </a:r>
        </a:p>
      </dgm:t>
    </dgm:pt>
    <dgm:pt modelId="{AEECF434-DBB6-4313-9608-2F9A2061E5B0}" type="parTrans" cxnId="{9255FECB-ECC6-4B17-AD5C-BE791ACBC620}">
      <dgm:prSet/>
      <dgm:spPr/>
      <dgm:t>
        <a:bodyPr/>
        <a:lstStyle/>
        <a:p>
          <a:endParaRPr lang="en-US"/>
        </a:p>
      </dgm:t>
    </dgm:pt>
    <dgm:pt modelId="{8FB4A918-7ED1-4258-9EC8-D992967192E7}" type="sibTrans" cxnId="{9255FECB-ECC6-4B17-AD5C-BE791ACBC620}">
      <dgm:prSet/>
      <dgm:spPr/>
      <dgm:t>
        <a:bodyPr/>
        <a:lstStyle/>
        <a:p>
          <a:endParaRPr lang="en-US"/>
        </a:p>
      </dgm:t>
    </dgm:pt>
    <dgm:pt modelId="{AB6029DB-F9E9-4F6B-8EA3-A4C827B50FD1}" type="pres">
      <dgm:prSet presAssocID="{39E408F0-83F3-4A82-A2E2-198E551A9CFA}" presName="root" presStyleCnt="0">
        <dgm:presLayoutVars>
          <dgm:dir/>
          <dgm:resizeHandles val="exact"/>
        </dgm:presLayoutVars>
      </dgm:prSet>
      <dgm:spPr/>
    </dgm:pt>
    <dgm:pt modelId="{751B2BE0-975E-410B-A539-999AE138D872}" type="pres">
      <dgm:prSet presAssocID="{C89FD3A2-ADB6-420C-823F-7CADA9919104}" presName="compNode" presStyleCnt="0"/>
      <dgm:spPr/>
    </dgm:pt>
    <dgm:pt modelId="{99437374-C1A0-4265-B224-282CCF8BC476}" type="pres">
      <dgm:prSet presAssocID="{C89FD3A2-ADB6-420C-823F-7CADA9919104}" presName="bgRect" presStyleLbl="bgShp" presStyleIdx="0" presStyleCnt="2"/>
      <dgm:spPr/>
    </dgm:pt>
    <dgm:pt modelId="{C78C6C5D-9527-4A83-8D93-D9580EAAAD13}" type="pres">
      <dgm:prSet presAssocID="{C89FD3A2-ADB6-420C-823F-7CADA991910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4F453BF0-B37E-490B-A070-C0FBF48C9EE5}" type="pres">
      <dgm:prSet presAssocID="{C89FD3A2-ADB6-420C-823F-7CADA9919104}" presName="spaceRect" presStyleCnt="0"/>
      <dgm:spPr/>
    </dgm:pt>
    <dgm:pt modelId="{E6860F09-F1A6-4D1E-8DC3-060641B8B528}" type="pres">
      <dgm:prSet presAssocID="{C89FD3A2-ADB6-420C-823F-7CADA9919104}" presName="parTx" presStyleLbl="revTx" presStyleIdx="0" presStyleCnt="2">
        <dgm:presLayoutVars>
          <dgm:chMax val="0"/>
          <dgm:chPref val="0"/>
        </dgm:presLayoutVars>
      </dgm:prSet>
      <dgm:spPr/>
    </dgm:pt>
    <dgm:pt modelId="{9D6A4A15-6544-4A85-8B59-2A451D85987D}" type="pres">
      <dgm:prSet presAssocID="{F9A9455D-E6AD-43BB-AB5A-39C9042D6371}" presName="sibTrans" presStyleCnt="0"/>
      <dgm:spPr/>
    </dgm:pt>
    <dgm:pt modelId="{96EA3468-E8C1-437F-8CE6-E78C444EA4E7}" type="pres">
      <dgm:prSet presAssocID="{4965DD2D-8877-415B-A524-EA7D10601B59}" presName="compNode" presStyleCnt="0"/>
      <dgm:spPr/>
    </dgm:pt>
    <dgm:pt modelId="{7C480330-7E8C-4BF1-94D8-07D2E0AB56A8}" type="pres">
      <dgm:prSet presAssocID="{4965DD2D-8877-415B-A524-EA7D10601B59}" presName="bgRect" presStyleLbl="bgShp" presStyleIdx="1" presStyleCnt="2"/>
      <dgm:spPr/>
    </dgm:pt>
    <dgm:pt modelId="{37134516-6E7E-451C-8894-E3DA5177755D}" type="pres">
      <dgm:prSet presAssocID="{4965DD2D-8877-415B-A524-EA7D10601B5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D2DECC73-F4EB-4872-BE18-31803CF432CA}" type="pres">
      <dgm:prSet presAssocID="{4965DD2D-8877-415B-A524-EA7D10601B59}" presName="spaceRect" presStyleCnt="0"/>
      <dgm:spPr/>
    </dgm:pt>
    <dgm:pt modelId="{389C1B67-9D5D-4C1C-94C4-B19D5199DE9F}" type="pres">
      <dgm:prSet presAssocID="{4965DD2D-8877-415B-A524-EA7D10601B59}" presName="parTx" presStyleLbl="revTx" presStyleIdx="1" presStyleCnt="2">
        <dgm:presLayoutVars>
          <dgm:chMax val="0"/>
          <dgm:chPref val="0"/>
        </dgm:presLayoutVars>
      </dgm:prSet>
      <dgm:spPr/>
    </dgm:pt>
  </dgm:ptLst>
  <dgm:cxnLst>
    <dgm:cxn modelId="{4B726B6B-C586-4733-9FBF-BCF35023E5A2}" type="presOf" srcId="{39E408F0-83F3-4A82-A2E2-198E551A9CFA}" destId="{AB6029DB-F9E9-4F6B-8EA3-A4C827B50FD1}" srcOrd="0" destOrd="0" presId="urn:microsoft.com/office/officeart/2018/2/layout/IconVerticalSolidList"/>
    <dgm:cxn modelId="{7E554C73-44DA-4A22-9354-21A3272C8DD9}" type="presOf" srcId="{4965DD2D-8877-415B-A524-EA7D10601B59}" destId="{389C1B67-9D5D-4C1C-94C4-B19D5199DE9F}" srcOrd="0" destOrd="0" presId="urn:microsoft.com/office/officeart/2018/2/layout/IconVerticalSolidList"/>
    <dgm:cxn modelId="{4851B199-EDB9-4D7A-A8A2-D051D1D1D1CA}" srcId="{39E408F0-83F3-4A82-A2E2-198E551A9CFA}" destId="{C89FD3A2-ADB6-420C-823F-7CADA9919104}" srcOrd="0" destOrd="0" parTransId="{F174C401-70FC-4C31-AD79-F6842154C85C}" sibTransId="{F9A9455D-E6AD-43BB-AB5A-39C9042D6371}"/>
    <dgm:cxn modelId="{73EB35BB-2A41-4189-B0A1-64BBF094DE61}" type="presOf" srcId="{C89FD3A2-ADB6-420C-823F-7CADA9919104}" destId="{E6860F09-F1A6-4D1E-8DC3-060641B8B528}" srcOrd="0" destOrd="0" presId="urn:microsoft.com/office/officeart/2018/2/layout/IconVerticalSolidList"/>
    <dgm:cxn modelId="{9255FECB-ECC6-4B17-AD5C-BE791ACBC620}" srcId="{39E408F0-83F3-4A82-A2E2-198E551A9CFA}" destId="{4965DD2D-8877-415B-A524-EA7D10601B59}" srcOrd="1" destOrd="0" parTransId="{AEECF434-DBB6-4313-9608-2F9A2061E5B0}" sibTransId="{8FB4A918-7ED1-4258-9EC8-D992967192E7}"/>
    <dgm:cxn modelId="{6A264231-0F52-4DF9-8006-252BE31F8414}" type="presParOf" srcId="{AB6029DB-F9E9-4F6B-8EA3-A4C827B50FD1}" destId="{751B2BE0-975E-410B-A539-999AE138D872}" srcOrd="0" destOrd="0" presId="urn:microsoft.com/office/officeart/2018/2/layout/IconVerticalSolidList"/>
    <dgm:cxn modelId="{9CFB578D-21BF-4E24-8519-DB8D6FDA0FD0}" type="presParOf" srcId="{751B2BE0-975E-410B-A539-999AE138D872}" destId="{99437374-C1A0-4265-B224-282CCF8BC476}" srcOrd="0" destOrd="0" presId="urn:microsoft.com/office/officeart/2018/2/layout/IconVerticalSolidList"/>
    <dgm:cxn modelId="{C83B16E1-BF7C-4C0E-BD0B-E41A99848DB7}" type="presParOf" srcId="{751B2BE0-975E-410B-A539-999AE138D872}" destId="{C78C6C5D-9527-4A83-8D93-D9580EAAAD13}" srcOrd="1" destOrd="0" presId="urn:microsoft.com/office/officeart/2018/2/layout/IconVerticalSolidList"/>
    <dgm:cxn modelId="{D0D4966E-77D9-4E08-AD7C-1E4E268EB1DD}" type="presParOf" srcId="{751B2BE0-975E-410B-A539-999AE138D872}" destId="{4F453BF0-B37E-490B-A070-C0FBF48C9EE5}" srcOrd="2" destOrd="0" presId="urn:microsoft.com/office/officeart/2018/2/layout/IconVerticalSolidList"/>
    <dgm:cxn modelId="{0AC08F90-4246-4F4F-8796-EB72517AC3C9}" type="presParOf" srcId="{751B2BE0-975E-410B-A539-999AE138D872}" destId="{E6860F09-F1A6-4D1E-8DC3-060641B8B528}" srcOrd="3" destOrd="0" presId="urn:microsoft.com/office/officeart/2018/2/layout/IconVerticalSolidList"/>
    <dgm:cxn modelId="{5AB16410-DD65-47EA-928E-13D35ACE017E}" type="presParOf" srcId="{AB6029DB-F9E9-4F6B-8EA3-A4C827B50FD1}" destId="{9D6A4A15-6544-4A85-8B59-2A451D85987D}" srcOrd="1" destOrd="0" presId="urn:microsoft.com/office/officeart/2018/2/layout/IconVerticalSolidList"/>
    <dgm:cxn modelId="{5D986FA8-647C-4657-A3AD-BCD564C6E2CB}" type="presParOf" srcId="{AB6029DB-F9E9-4F6B-8EA3-A4C827B50FD1}" destId="{96EA3468-E8C1-437F-8CE6-E78C444EA4E7}" srcOrd="2" destOrd="0" presId="urn:microsoft.com/office/officeart/2018/2/layout/IconVerticalSolidList"/>
    <dgm:cxn modelId="{4E76670B-3E99-42C5-B861-5274996D3432}" type="presParOf" srcId="{96EA3468-E8C1-437F-8CE6-E78C444EA4E7}" destId="{7C480330-7E8C-4BF1-94D8-07D2E0AB56A8}" srcOrd="0" destOrd="0" presId="urn:microsoft.com/office/officeart/2018/2/layout/IconVerticalSolidList"/>
    <dgm:cxn modelId="{862A9C52-828C-44D4-AE9C-28CA57672E5E}" type="presParOf" srcId="{96EA3468-E8C1-437F-8CE6-E78C444EA4E7}" destId="{37134516-6E7E-451C-8894-E3DA5177755D}" srcOrd="1" destOrd="0" presId="urn:microsoft.com/office/officeart/2018/2/layout/IconVerticalSolidList"/>
    <dgm:cxn modelId="{1E25521B-62DC-4456-BEB3-F9DBB438F24F}" type="presParOf" srcId="{96EA3468-E8C1-437F-8CE6-E78C444EA4E7}" destId="{D2DECC73-F4EB-4872-BE18-31803CF432CA}" srcOrd="2" destOrd="0" presId="urn:microsoft.com/office/officeart/2018/2/layout/IconVerticalSolidList"/>
    <dgm:cxn modelId="{6437F2D7-4FFA-4442-8FD6-D56D958F16BE}" type="presParOf" srcId="{96EA3468-E8C1-437F-8CE6-E78C444EA4E7}" destId="{389C1B67-9D5D-4C1C-94C4-B19D5199DE9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567E95-7071-488A-BEE8-B19C98B1A6A9}"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5D94148F-E543-409B-B30B-40100DF2F7EF}">
      <dgm:prSet/>
      <dgm:spPr/>
      <dgm:t>
        <a:bodyPr/>
        <a:lstStyle/>
        <a:p>
          <a:r>
            <a:rPr lang="en-US" b="1" i="0" baseline="0" dirty="0"/>
            <a:t>AI-Powered Sentiment Analysis:</a:t>
          </a:r>
          <a:r>
            <a:rPr lang="en-US" b="0" i="0" baseline="0" dirty="0"/>
            <a:t> Used machine learning models to analyze large datasets of reviews.</a:t>
          </a:r>
          <a:endParaRPr lang="en-US" dirty="0"/>
        </a:p>
      </dgm:t>
    </dgm:pt>
    <dgm:pt modelId="{E746BFE7-0BD6-42A2-9D67-B0DBFAFDD53E}" type="parTrans" cxnId="{8EA93AD7-8BE3-4A43-954B-8D69CA78EC56}">
      <dgm:prSet/>
      <dgm:spPr/>
      <dgm:t>
        <a:bodyPr/>
        <a:lstStyle/>
        <a:p>
          <a:endParaRPr lang="en-US"/>
        </a:p>
      </dgm:t>
    </dgm:pt>
    <dgm:pt modelId="{A4B89F33-EAF4-443C-A451-698B91DD0F1E}" type="sibTrans" cxnId="{8EA93AD7-8BE3-4A43-954B-8D69CA78EC56}">
      <dgm:prSet/>
      <dgm:spPr/>
      <dgm:t>
        <a:bodyPr/>
        <a:lstStyle/>
        <a:p>
          <a:endParaRPr lang="en-US"/>
        </a:p>
      </dgm:t>
    </dgm:pt>
    <dgm:pt modelId="{474318A2-4DD0-49FD-970B-3ADAB3CAEC40}">
      <dgm:prSet/>
      <dgm:spPr/>
      <dgm:t>
        <a:bodyPr/>
        <a:lstStyle/>
        <a:p>
          <a:r>
            <a:rPr lang="en-US" b="1" i="0" baseline="0"/>
            <a:t>Automated Insights &amp; Trends:</a:t>
          </a:r>
          <a:r>
            <a:rPr lang="en-US" b="0" i="0" baseline="0"/>
            <a:t> Identified key customer pain points and product strengths, enabling data-driven decision-making for product improvements.</a:t>
          </a:r>
          <a:endParaRPr lang="en-US"/>
        </a:p>
      </dgm:t>
    </dgm:pt>
    <dgm:pt modelId="{438FF0AA-9F57-45E1-BF76-FD6DD618EE00}" type="parTrans" cxnId="{42946906-97A9-473E-B8EA-51A7B8C3C29B}">
      <dgm:prSet/>
      <dgm:spPr/>
      <dgm:t>
        <a:bodyPr/>
        <a:lstStyle/>
        <a:p>
          <a:endParaRPr lang="en-US"/>
        </a:p>
      </dgm:t>
    </dgm:pt>
    <dgm:pt modelId="{2C3A88BD-A5B2-48A6-96CD-796A85C51B3A}" type="sibTrans" cxnId="{42946906-97A9-473E-B8EA-51A7B8C3C29B}">
      <dgm:prSet/>
      <dgm:spPr/>
      <dgm:t>
        <a:bodyPr/>
        <a:lstStyle/>
        <a:p>
          <a:endParaRPr lang="en-US"/>
        </a:p>
      </dgm:t>
    </dgm:pt>
    <dgm:pt modelId="{C5A32811-1A18-4EBE-859D-50AF75ECAC74}">
      <dgm:prSet/>
      <dgm:spPr/>
      <dgm:t>
        <a:bodyPr/>
        <a:lstStyle/>
        <a:p>
          <a:r>
            <a:rPr lang="en-US" b="1" i="0" baseline="0"/>
            <a:t>Business Impact:</a:t>
          </a:r>
          <a:r>
            <a:rPr lang="en-US" b="0" i="0" baseline="0"/>
            <a:t> Reduced manual effort in review analysis, enhanced customer satisfaction, and helped companies stay competitive in the smart device market.</a:t>
          </a:r>
          <a:endParaRPr lang="en-US"/>
        </a:p>
      </dgm:t>
    </dgm:pt>
    <dgm:pt modelId="{8B40828B-31D6-422D-A901-DACB7E2B0C58}" type="parTrans" cxnId="{6F1220A8-286E-463C-9E7F-665AEF8ECCC6}">
      <dgm:prSet/>
      <dgm:spPr/>
      <dgm:t>
        <a:bodyPr/>
        <a:lstStyle/>
        <a:p>
          <a:endParaRPr lang="en-US"/>
        </a:p>
      </dgm:t>
    </dgm:pt>
    <dgm:pt modelId="{80DCB7AF-2F50-409B-8AF9-72C9D44729E9}" type="sibTrans" cxnId="{6F1220A8-286E-463C-9E7F-665AEF8ECCC6}">
      <dgm:prSet/>
      <dgm:spPr/>
      <dgm:t>
        <a:bodyPr/>
        <a:lstStyle/>
        <a:p>
          <a:endParaRPr lang="en-US"/>
        </a:p>
      </dgm:t>
    </dgm:pt>
    <dgm:pt modelId="{F93A3986-418A-4CBC-A5C3-F642B935467E}" type="pres">
      <dgm:prSet presAssocID="{39567E95-7071-488A-BEE8-B19C98B1A6A9}" presName="outerComposite" presStyleCnt="0">
        <dgm:presLayoutVars>
          <dgm:chMax val="5"/>
          <dgm:dir/>
          <dgm:resizeHandles val="exact"/>
        </dgm:presLayoutVars>
      </dgm:prSet>
      <dgm:spPr/>
    </dgm:pt>
    <dgm:pt modelId="{DA3408E9-F9A3-410D-A105-A2DB25695FFF}" type="pres">
      <dgm:prSet presAssocID="{39567E95-7071-488A-BEE8-B19C98B1A6A9}" presName="dummyMaxCanvas" presStyleCnt="0">
        <dgm:presLayoutVars/>
      </dgm:prSet>
      <dgm:spPr/>
    </dgm:pt>
    <dgm:pt modelId="{CF1A5EDA-2D4C-4DC3-B4D4-405D1836849B}" type="pres">
      <dgm:prSet presAssocID="{39567E95-7071-488A-BEE8-B19C98B1A6A9}" presName="ThreeNodes_1" presStyleLbl="node1" presStyleIdx="0" presStyleCnt="3">
        <dgm:presLayoutVars>
          <dgm:bulletEnabled val="1"/>
        </dgm:presLayoutVars>
      </dgm:prSet>
      <dgm:spPr/>
    </dgm:pt>
    <dgm:pt modelId="{52DD6F6B-F72E-48BA-AB24-5A206052D62A}" type="pres">
      <dgm:prSet presAssocID="{39567E95-7071-488A-BEE8-B19C98B1A6A9}" presName="ThreeNodes_2" presStyleLbl="node1" presStyleIdx="1" presStyleCnt="3">
        <dgm:presLayoutVars>
          <dgm:bulletEnabled val="1"/>
        </dgm:presLayoutVars>
      </dgm:prSet>
      <dgm:spPr/>
    </dgm:pt>
    <dgm:pt modelId="{F028B3D0-E8CF-4025-B438-E6CE675094F5}" type="pres">
      <dgm:prSet presAssocID="{39567E95-7071-488A-BEE8-B19C98B1A6A9}" presName="ThreeNodes_3" presStyleLbl="node1" presStyleIdx="2" presStyleCnt="3">
        <dgm:presLayoutVars>
          <dgm:bulletEnabled val="1"/>
        </dgm:presLayoutVars>
      </dgm:prSet>
      <dgm:spPr/>
    </dgm:pt>
    <dgm:pt modelId="{F5296345-2B1A-411A-93A4-646FF7AAA08D}" type="pres">
      <dgm:prSet presAssocID="{39567E95-7071-488A-BEE8-B19C98B1A6A9}" presName="ThreeConn_1-2" presStyleLbl="fgAccFollowNode1" presStyleIdx="0" presStyleCnt="2">
        <dgm:presLayoutVars>
          <dgm:bulletEnabled val="1"/>
        </dgm:presLayoutVars>
      </dgm:prSet>
      <dgm:spPr/>
    </dgm:pt>
    <dgm:pt modelId="{E65FDBBD-5462-406F-859A-87DD780B660A}" type="pres">
      <dgm:prSet presAssocID="{39567E95-7071-488A-BEE8-B19C98B1A6A9}" presName="ThreeConn_2-3" presStyleLbl="fgAccFollowNode1" presStyleIdx="1" presStyleCnt="2">
        <dgm:presLayoutVars>
          <dgm:bulletEnabled val="1"/>
        </dgm:presLayoutVars>
      </dgm:prSet>
      <dgm:spPr/>
    </dgm:pt>
    <dgm:pt modelId="{AFACC983-BD15-4AE3-A536-70094178A10B}" type="pres">
      <dgm:prSet presAssocID="{39567E95-7071-488A-BEE8-B19C98B1A6A9}" presName="ThreeNodes_1_text" presStyleLbl="node1" presStyleIdx="2" presStyleCnt="3">
        <dgm:presLayoutVars>
          <dgm:bulletEnabled val="1"/>
        </dgm:presLayoutVars>
      </dgm:prSet>
      <dgm:spPr/>
    </dgm:pt>
    <dgm:pt modelId="{0046BF51-C9B3-4E44-BB5D-8CFEE88923C4}" type="pres">
      <dgm:prSet presAssocID="{39567E95-7071-488A-BEE8-B19C98B1A6A9}" presName="ThreeNodes_2_text" presStyleLbl="node1" presStyleIdx="2" presStyleCnt="3">
        <dgm:presLayoutVars>
          <dgm:bulletEnabled val="1"/>
        </dgm:presLayoutVars>
      </dgm:prSet>
      <dgm:spPr/>
    </dgm:pt>
    <dgm:pt modelId="{AA8D1B8B-64D4-4652-B68E-CAF4176DE19E}" type="pres">
      <dgm:prSet presAssocID="{39567E95-7071-488A-BEE8-B19C98B1A6A9}" presName="ThreeNodes_3_text" presStyleLbl="node1" presStyleIdx="2" presStyleCnt="3">
        <dgm:presLayoutVars>
          <dgm:bulletEnabled val="1"/>
        </dgm:presLayoutVars>
      </dgm:prSet>
      <dgm:spPr/>
    </dgm:pt>
  </dgm:ptLst>
  <dgm:cxnLst>
    <dgm:cxn modelId="{4438EE03-3F75-4EDC-BFFD-BDFD57004F0E}" type="presOf" srcId="{5D94148F-E543-409B-B30B-40100DF2F7EF}" destId="{AFACC983-BD15-4AE3-A536-70094178A10B}" srcOrd="1" destOrd="0" presId="urn:microsoft.com/office/officeart/2005/8/layout/vProcess5"/>
    <dgm:cxn modelId="{42946906-97A9-473E-B8EA-51A7B8C3C29B}" srcId="{39567E95-7071-488A-BEE8-B19C98B1A6A9}" destId="{474318A2-4DD0-49FD-970B-3ADAB3CAEC40}" srcOrd="1" destOrd="0" parTransId="{438FF0AA-9F57-45E1-BF76-FD6DD618EE00}" sibTransId="{2C3A88BD-A5B2-48A6-96CD-796A85C51B3A}"/>
    <dgm:cxn modelId="{6F3E5538-D9AC-46F7-A817-3C468F0980A8}" type="presOf" srcId="{2C3A88BD-A5B2-48A6-96CD-796A85C51B3A}" destId="{E65FDBBD-5462-406F-859A-87DD780B660A}" srcOrd="0" destOrd="0" presId="urn:microsoft.com/office/officeart/2005/8/layout/vProcess5"/>
    <dgm:cxn modelId="{19487C62-6D90-41CF-A5D2-4D888B145AAA}" type="presOf" srcId="{A4B89F33-EAF4-443C-A451-698B91DD0F1E}" destId="{F5296345-2B1A-411A-93A4-646FF7AAA08D}" srcOrd="0" destOrd="0" presId="urn:microsoft.com/office/officeart/2005/8/layout/vProcess5"/>
    <dgm:cxn modelId="{9BA0AF65-8279-42DE-A150-C49B666C7FBC}" type="presOf" srcId="{474318A2-4DD0-49FD-970B-3ADAB3CAEC40}" destId="{0046BF51-C9B3-4E44-BB5D-8CFEE88923C4}" srcOrd="1" destOrd="0" presId="urn:microsoft.com/office/officeart/2005/8/layout/vProcess5"/>
    <dgm:cxn modelId="{2BE4E053-FAB2-446B-BEA5-A2C564EDCBA9}" type="presOf" srcId="{C5A32811-1A18-4EBE-859D-50AF75ECAC74}" destId="{F028B3D0-E8CF-4025-B438-E6CE675094F5}" srcOrd="0" destOrd="0" presId="urn:microsoft.com/office/officeart/2005/8/layout/vProcess5"/>
    <dgm:cxn modelId="{1C45A785-C6AB-4805-8075-0DF6B262FEDB}" type="presOf" srcId="{39567E95-7071-488A-BEE8-B19C98B1A6A9}" destId="{F93A3986-418A-4CBC-A5C3-F642B935467E}" srcOrd="0" destOrd="0" presId="urn:microsoft.com/office/officeart/2005/8/layout/vProcess5"/>
    <dgm:cxn modelId="{6F1220A8-286E-463C-9E7F-665AEF8ECCC6}" srcId="{39567E95-7071-488A-BEE8-B19C98B1A6A9}" destId="{C5A32811-1A18-4EBE-859D-50AF75ECAC74}" srcOrd="2" destOrd="0" parTransId="{8B40828B-31D6-422D-A901-DACB7E2B0C58}" sibTransId="{80DCB7AF-2F50-409B-8AF9-72C9D44729E9}"/>
    <dgm:cxn modelId="{123E41AE-69AA-4210-BBB2-CBD9CB960CA4}" type="presOf" srcId="{C5A32811-1A18-4EBE-859D-50AF75ECAC74}" destId="{AA8D1B8B-64D4-4652-B68E-CAF4176DE19E}" srcOrd="1" destOrd="0" presId="urn:microsoft.com/office/officeart/2005/8/layout/vProcess5"/>
    <dgm:cxn modelId="{8EA93AD7-8BE3-4A43-954B-8D69CA78EC56}" srcId="{39567E95-7071-488A-BEE8-B19C98B1A6A9}" destId="{5D94148F-E543-409B-B30B-40100DF2F7EF}" srcOrd="0" destOrd="0" parTransId="{E746BFE7-0BD6-42A2-9D67-B0DBFAFDD53E}" sibTransId="{A4B89F33-EAF4-443C-A451-698B91DD0F1E}"/>
    <dgm:cxn modelId="{B67E15E2-58F5-4BCC-96D4-16E331B8C272}" type="presOf" srcId="{474318A2-4DD0-49FD-970B-3ADAB3CAEC40}" destId="{52DD6F6B-F72E-48BA-AB24-5A206052D62A}" srcOrd="0" destOrd="0" presId="urn:microsoft.com/office/officeart/2005/8/layout/vProcess5"/>
    <dgm:cxn modelId="{B033BAFD-1D6C-4073-B673-1B8FAE814090}" type="presOf" srcId="{5D94148F-E543-409B-B30B-40100DF2F7EF}" destId="{CF1A5EDA-2D4C-4DC3-B4D4-405D1836849B}" srcOrd="0" destOrd="0" presId="urn:microsoft.com/office/officeart/2005/8/layout/vProcess5"/>
    <dgm:cxn modelId="{35AC70BB-356E-4FFF-B7E7-8B9F8F9856AF}" type="presParOf" srcId="{F93A3986-418A-4CBC-A5C3-F642B935467E}" destId="{DA3408E9-F9A3-410D-A105-A2DB25695FFF}" srcOrd="0" destOrd="0" presId="urn:microsoft.com/office/officeart/2005/8/layout/vProcess5"/>
    <dgm:cxn modelId="{19122EB4-C2A2-43D6-ACB9-0C5310FC530D}" type="presParOf" srcId="{F93A3986-418A-4CBC-A5C3-F642B935467E}" destId="{CF1A5EDA-2D4C-4DC3-B4D4-405D1836849B}" srcOrd="1" destOrd="0" presId="urn:microsoft.com/office/officeart/2005/8/layout/vProcess5"/>
    <dgm:cxn modelId="{416A8491-23DA-4731-AEE3-71F1B6452977}" type="presParOf" srcId="{F93A3986-418A-4CBC-A5C3-F642B935467E}" destId="{52DD6F6B-F72E-48BA-AB24-5A206052D62A}" srcOrd="2" destOrd="0" presId="urn:microsoft.com/office/officeart/2005/8/layout/vProcess5"/>
    <dgm:cxn modelId="{E9A36D74-CEF8-4C8D-BA72-2C97E62D0749}" type="presParOf" srcId="{F93A3986-418A-4CBC-A5C3-F642B935467E}" destId="{F028B3D0-E8CF-4025-B438-E6CE675094F5}" srcOrd="3" destOrd="0" presId="urn:microsoft.com/office/officeart/2005/8/layout/vProcess5"/>
    <dgm:cxn modelId="{39EF8E1F-8A2F-44A6-A447-AB5630EF3A41}" type="presParOf" srcId="{F93A3986-418A-4CBC-A5C3-F642B935467E}" destId="{F5296345-2B1A-411A-93A4-646FF7AAA08D}" srcOrd="4" destOrd="0" presId="urn:microsoft.com/office/officeart/2005/8/layout/vProcess5"/>
    <dgm:cxn modelId="{90072AAC-3958-4F6D-9540-A67177E7102F}" type="presParOf" srcId="{F93A3986-418A-4CBC-A5C3-F642B935467E}" destId="{E65FDBBD-5462-406F-859A-87DD780B660A}" srcOrd="5" destOrd="0" presId="urn:microsoft.com/office/officeart/2005/8/layout/vProcess5"/>
    <dgm:cxn modelId="{AA2AAD74-CC9D-4E42-AA98-FAC6AA6A50FC}" type="presParOf" srcId="{F93A3986-418A-4CBC-A5C3-F642B935467E}" destId="{AFACC983-BD15-4AE3-A536-70094178A10B}" srcOrd="6" destOrd="0" presId="urn:microsoft.com/office/officeart/2005/8/layout/vProcess5"/>
    <dgm:cxn modelId="{31A1C4A3-70CB-484A-BCD3-A08BA93EA4BE}" type="presParOf" srcId="{F93A3986-418A-4CBC-A5C3-F642B935467E}" destId="{0046BF51-C9B3-4E44-BB5D-8CFEE88923C4}" srcOrd="7" destOrd="0" presId="urn:microsoft.com/office/officeart/2005/8/layout/vProcess5"/>
    <dgm:cxn modelId="{38CA9E2F-2A22-4833-BB6D-31030C462F55}" type="presParOf" srcId="{F93A3986-418A-4CBC-A5C3-F642B935467E}" destId="{AA8D1B8B-64D4-4652-B68E-CAF4176DE19E}"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437374-C1A0-4265-B224-282CCF8BC476}">
      <dsp:nvSpPr>
        <dsp:cNvPr id="0" name=""/>
        <dsp:cNvSpPr/>
      </dsp:nvSpPr>
      <dsp:spPr>
        <a:xfrm>
          <a:off x="0" y="735468"/>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8C6C5D-9527-4A83-8D93-D9580EAAAD13}">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860F09-F1A6-4D1E-8DC3-060641B8B528}">
      <dsp:nvSpPr>
        <dsp:cNvPr id="0" name=""/>
        <dsp:cNvSpPr/>
      </dsp:nvSpPr>
      <dsp:spPr>
        <a:xfrm>
          <a:off x="1568246" y="735468"/>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666750">
            <a:lnSpc>
              <a:spcPct val="100000"/>
            </a:lnSpc>
            <a:spcBef>
              <a:spcPct val="0"/>
            </a:spcBef>
            <a:spcAft>
              <a:spcPct val="35000"/>
            </a:spcAft>
            <a:buNone/>
          </a:pPr>
          <a:r>
            <a:rPr lang="en-US" sz="1500" kern="1200" dirty="0"/>
            <a:t>This project implements machine learning-driven sentiment analysis to automatically analyze customer reviews and extract actionable insights. The approach includes algorithms like Naïve Bayes, Decision Tree, and Random Forest to analysis the data to reveal trends in positive and negative feedbacks.</a:t>
          </a:r>
        </a:p>
      </dsp:txBody>
      <dsp:txXfrm>
        <a:off x="1568246" y="735468"/>
        <a:ext cx="6661353" cy="1357788"/>
      </dsp:txXfrm>
    </dsp:sp>
    <dsp:sp modelId="{7C480330-7E8C-4BF1-94D8-07D2E0AB56A8}">
      <dsp:nvSpPr>
        <dsp:cNvPr id="0" name=""/>
        <dsp:cNvSpPr/>
      </dsp:nvSpPr>
      <dsp:spPr>
        <a:xfrm>
          <a:off x="0" y="2432705"/>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134516-6E7E-451C-8894-E3DA5177755D}">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9C1B67-9D5D-4C1C-94C4-B19D5199DE9F}">
      <dsp:nvSpPr>
        <dsp:cNvPr id="0" name=""/>
        <dsp:cNvSpPr/>
      </dsp:nvSpPr>
      <dsp:spPr>
        <a:xfrm>
          <a:off x="1568246" y="2432705"/>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666750">
            <a:lnSpc>
              <a:spcPct val="100000"/>
            </a:lnSpc>
            <a:spcBef>
              <a:spcPct val="0"/>
            </a:spcBef>
            <a:spcAft>
              <a:spcPct val="35000"/>
            </a:spcAft>
            <a:buNone/>
          </a:pPr>
          <a:r>
            <a:rPr lang="en-US" sz="1500" kern="1200"/>
            <a:t>This automated analysis helps businesses efficiently identify customer pain points and product strengths, enabling data-driven product improvements and ultimately enhancing customer satisfaction.</a:t>
          </a:r>
        </a:p>
      </dsp:txBody>
      <dsp:txXfrm>
        <a:off x="1568246" y="2432705"/>
        <a:ext cx="6661353" cy="13577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A5EDA-2D4C-4DC3-B4D4-405D1836849B}">
      <dsp:nvSpPr>
        <dsp:cNvPr id="0" name=""/>
        <dsp:cNvSpPr/>
      </dsp:nvSpPr>
      <dsp:spPr>
        <a:xfrm>
          <a:off x="0" y="0"/>
          <a:ext cx="6966490" cy="1106821"/>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AI-Powered Sentiment Analysis:</a:t>
          </a:r>
          <a:r>
            <a:rPr lang="en-US" sz="1800" b="0" i="0" kern="1200" baseline="0" dirty="0"/>
            <a:t> Used machine learning models to analyze large datasets of reviews.</a:t>
          </a:r>
          <a:endParaRPr lang="en-US" sz="1800" kern="1200" dirty="0"/>
        </a:p>
      </dsp:txBody>
      <dsp:txXfrm>
        <a:off x="32418" y="32418"/>
        <a:ext cx="5772143" cy="1041985"/>
      </dsp:txXfrm>
    </dsp:sp>
    <dsp:sp modelId="{52DD6F6B-F72E-48BA-AB24-5A206052D62A}">
      <dsp:nvSpPr>
        <dsp:cNvPr id="0" name=""/>
        <dsp:cNvSpPr/>
      </dsp:nvSpPr>
      <dsp:spPr>
        <a:xfrm>
          <a:off x="614690" y="1291291"/>
          <a:ext cx="6966490" cy="1106821"/>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a:t>Automated Insights &amp; Trends:</a:t>
          </a:r>
          <a:r>
            <a:rPr lang="en-US" sz="1800" b="0" i="0" kern="1200" baseline="0"/>
            <a:t> Identified key customer pain points and product strengths, enabling data-driven decision-making for product improvements.</a:t>
          </a:r>
          <a:endParaRPr lang="en-US" sz="1800" kern="1200"/>
        </a:p>
      </dsp:txBody>
      <dsp:txXfrm>
        <a:off x="647108" y="1323709"/>
        <a:ext cx="5567530" cy="1041985"/>
      </dsp:txXfrm>
    </dsp:sp>
    <dsp:sp modelId="{F028B3D0-E8CF-4025-B438-E6CE675094F5}">
      <dsp:nvSpPr>
        <dsp:cNvPr id="0" name=""/>
        <dsp:cNvSpPr/>
      </dsp:nvSpPr>
      <dsp:spPr>
        <a:xfrm>
          <a:off x="1229380" y="2582583"/>
          <a:ext cx="6966490" cy="1106821"/>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a:t>Business Impact:</a:t>
          </a:r>
          <a:r>
            <a:rPr lang="en-US" sz="1800" b="0" i="0" kern="1200" baseline="0"/>
            <a:t> Reduced manual effort in review analysis, enhanced customer satisfaction, and helped companies stay competitive in the smart device market.</a:t>
          </a:r>
          <a:endParaRPr lang="en-US" sz="1800" kern="1200"/>
        </a:p>
      </dsp:txBody>
      <dsp:txXfrm>
        <a:off x="1261798" y="2615001"/>
        <a:ext cx="5567530" cy="1041985"/>
      </dsp:txXfrm>
    </dsp:sp>
    <dsp:sp modelId="{F5296345-2B1A-411A-93A4-646FF7AAA08D}">
      <dsp:nvSpPr>
        <dsp:cNvPr id="0" name=""/>
        <dsp:cNvSpPr/>
      </dsp:nvSpPr>
      <dsp:spPr>
        <a:xfrm>
          <a:off x="6247056" y="839339"/>
          <a:ext cx="719433" cy="719433"/>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6408928" y="839339"/>
        <a:ext cx="395689" cy="541373"/>
      </dsp:txXfrm>
    </dsp:sp>
    <dsp:sp modelId="{E65FDBBD-5462-406F-859A-87DD780B660A}">
      <dsp:nvSpPr>
        <dsp:cNvPr id="0" name=""/>
        <dsp:cNvSpPr/>
      </dsp:nvSpPr>
      <dsp:spPr>
        <a:xfrm>
          <a:off x="6861746" y="2123252"/>
          <a:ext cx="719433" cy="719433"/>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7023618" y="2123252"/>
        <a:ext cx="395689" cy="54137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8950" y="0"/>
            <a:ext cx="6118093"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5902" y="1839884"/>
            <a:ext cx="6118095"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190134" y="832294"/>
            <a:ext cx="6857999" cy="5192552"/>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olorful brain with lines and dots&#10;&#10;AI-generated content may be incorrect.">
            <a:extLst>
              <a:ext uri="{FF2B5EF4-FFF2-40B4-BE49-F238E27FC236}">
                <a16:creationId xmlns:a16="http://schemas.microsoft.com/office/drawing/2014/main" id="{2E6EDC12-DC19-24A3-834F-40EFCA3D74D0}"/>
              </a:ext>
            </a:extLst>
          </p:cNvPr>
          <p:cNvPicPr>
            <a:picLocks noGrp="1" noChangeAspect="1"/>
          </p:cNvPicPr>
          <p:nvPr>
            <p:ph idx="1"/>
          </p:nvPr>
        </p:nvPicPr>
        <p:blipFill>
          <a:blip r:embed="rId2"/>
          <a:stretch>
            <a:fillRect/>
          </a:stretch>
        </p:blipFill>
        <p:spPr>
          <a:xfrm>
            <a:off x="928590" y="457200"/>
            <a:ext cx="7286820" cy="5943600"/>
          </a:xfrm>
          <a:prstGeom prst="rect">
            <a:avLst/>
          </a:prstGeom>
        </p:spPr>
      </p:pic>
    </p:spTree>
    <p:extLst>
      <p:ext uri="{BB962C8B-B14F-4D97-AF65-F5344CB8AC3E}">
        <p14:creationId xmlns:p14="http://schemas.microsoft.com/office/powerpoint/2010/main" val="2756866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E734232-46A8-4884-9A59-B7E3BA4BC3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person with his arms crossed&#10;&#10;AI-generated content may be incorrect.">
            <a:extLst>
              <a:ext uri="{FF2B5EF4-FFF2-40B4-BE49-F238E27FC236}">
                <a16:creationId xmlns:a16="http://schemas.microsoft.com/office/drawing/2014/main" id="{2DCED410-A601-3AD3-168B-E7845D41E8A7}"/>
              </a:ext>
            </a:extLst>
          </p:cNvPr>
          <p:cNvPicPr>
            <a:picLocks noGrp="1" noChangeAspect="1"/>
          </p:cNvPicPr>
          <p:nvPr>
            <p:ph idx="1"/>
          </p:nvPr>
        </p:nvPicPr>
        <p:blipFill>
          <a:blip r:embed="rId2"/>
          <a:srcRect l="13360" r="20028" b="1"/>
          <a:stretch/>
        </p:blipFill>
        <p:spPr bwMode="auto">
          <a:xfrm>
            <a:off x="20" y="1"/>
            <a:ext cx="3028933" cy="527192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person with dark hair and beard&#10;&#10;AI-generated content may be incorrect.">
            <a:extLst>
              <a:ext uri="{FF2B5EF4-FFF2-40B4-BE49-F238E27FC236}">
                <a16:creationId xmlns:a16="http://schemas.microsoft.com/office/drawing/2014/main" id="{F93AE9CD-C92C-25FD-C8EF-33C5A44C065D}"/>
              </a:ext>
            </a:extLst>
          </p:cNvPr>
          <p:cNvPicPr>
            <a:picLocks noChangeAspect="1"/>
          </p:cNvPicPr>
          <p:nvPr/>
        </p:nvPicPr>
        <p:blipFill>
          <a:blip r:embed="rId3"/>
          <a:srcRect l="12751" r="10434" b="1"/>
          <a:stretch/>
        </p:blipFill>
        <p:spPr>
          <a:xfrm>
            <a:off x="3028950" y="1"/>
            <a:ext cx="3057525" cy="5271924"/>
          </a:xfrm>
          <a:prstGeom prst="rect">
            <a:avLst/>
          </a:prstGeom>
        </p:spPr>
      </p:pic>
      <p:pic>
        <p:nvPicPr>
          <p:cNvPr id="17" name="Picture 16" descr="A person smiling for the camera&#10;&#10;AI-generated content may be incorrect.">
            <a:extLst>
              <a:ext uri="{FF2B5EF4-FFF2-40B4-BE49-F238E27FC236}">
                <a16:creationId xmlns:a16="http://schemas.microsoft.com/office/drawing/2014/main" id="{14EA148A-FFD8-4860-F0BA-5566F3B5EB65}"/>
              </a:ext>
            </a:extLst>
          </p:cNvPr>
          <p:cNvPicPr>
            <a:picLocks noChangeAspect="1"/>
          </p:cNvPicPr>
          <p:nvPr/>
        </p:nvPicPr>
        <p:blipFill>
          <a:blip r:embed="rId4"/>
          <a:srcRect l="11390" r="6054" b="1"/>
          <a:stretch/>
        </p:blipFill>
        <p:spPr>
          <a:xfrm>
            <a:off x="6086469" y="8782"/>
            <a:ext cx="3057525" cy="5271924"/>
          </a:xfrm>
          <a:prstGeom prst="rect">
            <a:avLst/>
          </a:prstGeom>
        </p:spPr>
      </p:pic>
      <p:sp>
        <p:nvSpPr>
          <p:cNvPr id="24" name="Rectangle 23">
            <a:extLst>
              <a:ext uri="{FF2B5EF4-FFF2-40B4-BE49-F238E27FC236}">
                <a16:creationId xmlns:a16="http://schemas.microsoft.com/office/drawing/2014/main" id="{D346B8D2-3218-41A5-B817-9ABFB108C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0724"/>
            <a:ext cx="9143999" cy="1595775"/>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1E014CA-4279-4E70-AC56-0BBEBF92C2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2225"/>
            <a:ext cx="6086474" cy="1594275"/>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8B3DCF8-9D1E-4907-B1EC-98D11BC16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77" y="5262226"/>
            <a:ext cx="9147477" cy="1594274"/>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8D6B9EF-FF47-487C-8B82-F9F2B9A54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2" y="5262224"/>
            <a:ext cx="3057522" cy="1594275"/>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717D090-7948-433A-AED2-EA1A98E6F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69003" y="1483311"/>
            <a:ext cx="1594274" cy="9144000"/>
          </a:xfrm>
          <a:prstGeom prst="rect">
            <a:avLst/>
          </a:prstGeom>
          <a:gradFill>
            <a:gsLst>
              <a:gs pos="16000">
                <a:schemeClr val="accent1">
                  <a:alpha val="0"/>
                </a:schemeClr>
              </a:gs>
              <a:gs pos="99000">
                <a:srgbClr val="000000">
                  <a:alpha val="70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D618C3E8-8260-4E23-8BA1-C2C3E80BE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98" y="5282206"/>
            <a:ext cx="9144198" cy="1153314"/>
          </a:xfrm>
          <a:prstGeom prst="rect">
            <a:avLst/>
          </a:prstGeom>
          <a:gradFill>
            <a:gsLst>
              <a:gs pos="28000">
                <a:schemeClr val="accent1">
                  <a:lumMod val="75000"/>
                  <a:alpha val="11000"/>
                </a:schemeClr>
              </a:gs>
              <a:gs pos="100000">
                <a:schemeClr val="accent1">
                  <a:alpha val="26000"/>
                </a:scheme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546398-1D25-E49A-4626-B4F625192EDD}"/>
              </a:ext>
            </a:extLst>
          </p:cNvPr>
          <p:cNvSpPr>
            <a:spLocks noGrp="1"/>
          </p:cNvSpPr>
          <p:nvPr>
            <p:ph type="title"/>
          </p:nvPr>
        </p:nvSpPr>
        <p:spPr>
          <a:xfrm>
            <a:off x="524783" y="5990674"/>
            <a:ext cx="8332889" cy="861774"/>
          </a:xfrm>
        </p:spPr>
        <p:txBody>
          <a:bodyPr vert="horz" lIns="91440" tIns="45720" rIns="91440" bIns="45720" rtlCol="0" anchor="ctr">
            <a:normAutofit/>
          </a:bodyPr>
          <a:lstStyle/>
          <a:p>
            <a:pPr defTabSz="914400">
              <a:lnSpc>
                <a:spcPct val="90000"/>
              </a:lnSpc>
            </a:pPr>
            <a:r>
              <a:rPr lang="en-US" sz="3000" kern="1200" dirty="0">
                <a:solidFill>
                  <a:srgbClr val="FFFFFF"/>
                </a:solidFill>
                <a:latin typeface="+mj-lt"/>
                <a:ea typeface="+mj-ea"/>
                <a:cs typeface="+mj-cs"/>
              </a:rPr>
              <a:t>TEAM 03 SECTION 01 (MEET THE TEAM)</a:t>
            </a:r>
          </a:p>
        </p:txBody>
      </p:sp>
      <p:sp>
        <p:nvSpPr>
          <p:cNvPr id="19" name="TextBox 18">
            <a:extLst>
              <a:ext uri="{FF2B5EF4-FFF2-40B4-BE49-F238E27FC236}">
                <a16:creationId xmlns:a16="http://schemas.microsoft.com/office/drawing/2014/main" id="{A7CC5FBB-C2E9-731D-B618-E94C1F9A2729}"/>
              </a:ext>
            </a:extLst>
          </p:cNvPr>
          <p:cNvSpPr txBox="1"/>
          <p:nvPr/>
        </p:nvSpPr>
        <p:spPr>
          <a:xfrm>
            <a:off x="5861" y="5291905"/>
            <a:ext cx="3023092" cy="830997"/>
          </a:xfrm>
          <a:prstGeom prst="rect">
            <a:avLst/>
          </a:prstGeom>
          <a:noFill/>
        </p:spPr>
        <p:txBody>
          <a:bodyPr wrap="square" rtlCol="0">
            <a:spAutoFit/>
          </a:bodyPr>
          <a:lstStyle/>
          <a:p>
            <a:pPr algn="ctr"/>
            <a:r>
              <a:rPr lang="en-US" sz="3200" dirty="0">
                <a:solidFill>
                  <a:schemeClr val="bg1"/>
                </a:solidFill>
              </a:rPr>
              <a:t>Gowtham</a:t>
            </a:r>
          </a:p>
          <a:p>
            <a:pPr algn="ctr"/>
            <a:r>
              <a:rPr lang="en-US" sz="1600" dirty="0">
                <a:solidFill>
                  <a:schemeClr val="bg1"/>
                </a:solidFill>
              </a:rPr>
              <a:t>Data Engineer</a:t>
            </a:r>
            <a:endParaRPr lang="en-IN" sz="1600" dirty="0">
              <a:solidFill>
                <a:schemeClr val="bg1"/>
              </a:solidFill>
            </a:endParaRPr>
          </a:p>
        </p:txBody>
      </p:sp>
      <p:sp>
        <p:nvSpPr>
          <p:cNvPr id="21" name="TextBox 20">
            <a:extLst>
              <a:ext uri="{FF2B5EF4-FFF2-40B4-BE49-F238E27FC236}">
                <a16:creationId xmlns:a16="http://schemas.microsoft.com/office/drawing/2014/main" id="{B9653386-0471-5D04-1378-A53379CB5009}"/>
              </a:ext>
            </a:extLst>
          </p:cNvPr>
          <p:cNvSpPr txBox="1"/>
          <p:nvPr/>
        </p:nvSpPr>
        <p:spPr>
          <a:xfrm>
            <a:off x="3057529" y="5199572"/>
            <a:ext cx="3000353" cy="923330"/>
          </a:xfrm>
          <a:prstGeom prst="rect">
            <a:avLst/>
          </a:prstGeom>
          <a:noFill/>
        </p:spPr>
        <p:txBody>
          <a:bodyPr wrap="square">
            <a:spAutoFit/>
          </a:bodyPr>
          <a:lstStyle/>
          <a:p>
            <a:pPr algn="ctr"/>
            <a:r>
              <a:rPr lang="en-US" sz="3600" dirty="0">
                <a:solidFill>
                  <a:schemeClr val="bg1"/>
                </a:solidFill>
              </a:rPr>
              <a:t>Akash Vemula</a:t>
            </a:r>
          </a:p>
          <a:p>
            <a:pPr algn="ctr"/>
            <a:r>
              <a:rPr lang="en-US" sz="1800" dirty="0">
                <a:solidFill>
                  <a:schemeClr val="bg1"/>
                </a:solidFill>
              </a:rPr>
              <a:t>Data </a:t>
            </a:r>
            <a:r>
              <a:rPr lang="en-US" dirty="0">
                <a:solidFill>
                  <a:schemeClr val="bg1"/>
                </a:solidFill>
              </a:rPr>
              <a:t>Scientist</a:t>
            </a:r>
            <a:endParaRPr lang="en-IN" sz="1800" dirty="0">
              <a:solidFill>
                <a:schemeClr val="bg1"/>
              </a:solidFill>
            </a:endParaRPr>
          </a:p>
        </p:txBody>
      </p:sp>
      <p:sp>
        <p:nvSpPr>
          <p:cNvPr id="23" name="TextBox 22">
            <a:extLst>
              <a:ext uri="{FF2B5EF4-FFF2-40B4-BE49-F238E27FC236}">
                <a16:creationId xmlns:a16="http://schemas.microsoft.com/office/drawing/2014/main" id="{0AF03973-A8D8-0E8F-041A-D05F87FFB8D9}"/>
              </a:ext>
            </a:extLst>
          </p:cNvPr>
          <p:cNvSpPr txBox="1"/>
          <p:nvPr/>
        </p:nvSpPr>
        <p:spPr>
          <a:xfrm>
            <a:off x="6086475" y="5315277"/>
            <a:ext cx="3028926" cy="923330"/>
          </a:xfrm>
          <a:prstGeom prst="rect">
            <a:avLst/>
          </a:prstGeom>
          <a:noFill/>
        </p:spPr>
        <p:txBody>
          <a:bodyPr wrap="square" rtlCol="0">
            <a:spAutoFit/>
          </a:bodyPr>
          <a:lstStyle/>
          <a:p>
            <a:pPr algn="ctr"/>
            <a:r>
              <a:rPr lang="en-US" sz="3600" dirty="0">
                <a:solidFill>
                  <a:schemeClr val="bg1"/>
                </a:solidFill>
              </a:rPr>
              <a:t>Varun </a:t>
            </a:r>
            <a:r>
              <a:rPr lang="en-US" sz="3600" dirty="0" err="1">
                <a:solidFill>
                  <a:schemeClr val="bg1"/>
                </a:solidFill>
              </a:rPr>
              <a:t>Yadhav</a:t>
            </a:r>
            <a:endParaRPr lang="en-US" sz="3600" dirty="0">
              <a:solidFill>
                <a:schemeClr val="bg1"/>
              </a:solidFill>
            </a:endParaRPr>
          </a:p>
          <a:p>
            <a:pPr algn="ctr"/>
            <a:r>
              <a:rPr lang="en-US" dirty="0">
                <a:solidFill>
                  <a:schemeClr val="bg1"/>
                </a:solidFill>
              </a:rPr>
              <a:t>Data Analyst</a:t>
            </a:r>
            <a:endParaRPr lang="en-IN" dirty="0">
              <a:solidFill>
                <a:schemeClr val="bg1"/>
              </a:solidFill>
            </a:endParaRPr>
          </a:p>
        </p:txBody>
      </p:sp>
    </p:spTree>
    <p:extLst>
      <p:ext uri="{BB962C8B-B14F-4D97-AF65-F5344CB8AC3E}">
        <p14:creationId xmlns:p14="http://schemas.microsoft.com/office/powerpoint/2010/main" val="2475748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 name="Rectangle 418">
            <a:extLst>
              <a:ext uri="{FF2B5EF4-FFF2-40B4-BE49-F238E27FC236}">
                <a16:creationId xmlns:a16="http://schemas.microsoft.com/office/drawing/2014/main" id="{7A976E23-29EC-4E20-9EF6-B7CC4A821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DF5FCEC6-E657-46F1-925F-13ED19212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3" name="Group 422">
            <a:extLst>
              <a:ext uri="{FF2B5EF4-FFF2-40B4-BE49-F238E27FC236}">
                <a16:creationId xmlns:a16="http://schemas.microsoft.com/office/drawing/2014/main" id="{E5BA8FCE-96F8-40B3-804C-10C27C02F4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75420"/>
            <a:ext cx="9036544" cy="4093306"/>
            <a:chOff x="1" y="2075420"/>
            <a:chExt cx="12048729" cy="4093306"/>
          </a:xfrm>
        </p:grpSpPr>
        <p:sp>
          <p:nvSpPr>
            <p:cNvPr id="424" name="Oval 423">
              <a:extLst>
                <a:ext uri="{FF2B5EF4-FFF2-40B4-BE49-F238E27FC236}">
                  <a16:creationId xmlns:a16="http://schemas.microsoft.com/office/drawing/2014/main" id="{F0593719-0C87-4B1E-B35D-0F97D2969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Oval 424">
              <a:extLst>
                <a:ext uri="{FF2B5EF4-FFF2-40B4-BE49-F238E27FC236}">
                  <a16:creationId xmlns:a16="http://schemas.microsoft.com/office/drawing/2014/main" id="{86F72299-2A02-44FA-A443-EFB406CF1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Oval 425">
              <a:extLst>
                <a:ext uri="{FF2B5EF4-FFF2-40B4-BE49-F238E27FC236}">
                  <a16:creationId xmlns:a16="http://schemas.microsoft.com/office/drawing/2014/main" id="{3B09EF30-0043-45B4-B715-398AB3B37D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Oval 426">
              <a:extLst>
                <a:ext uri="{FF2B5EF4-FFF2-40B4-BE49-F238E27FC236}">
                  <a16:creationId xmlns:a16="http://schemas.microsoft.com/office/drawing/2014/main" id="{30227CAF-D3D1-454C-A6E3-466111AB0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8" name="Oval 427">
              <a:extLst>
                <a:ext uri="{FF2B5EF4-FFF2-40B4-BE49-F238E27FC236}">
                  <a16:creationId xmlns:a16="http://schemas.microsoft.com/office/drawing/2014/main" id="{90B68C07-78C0-4A8D-8839-959B33F07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Oval 428">
              <a:extLst>
                <a:ext uri="{FF2B5EF4-FFF2-40B4-BE49-F238E27FC236}">
                  <a16:creationId xmlns:a16="http://schemas.microsoft.com/office/drawing/2014/main" id="{6C367BC4-E8BC-458E-B0F6-2033296CF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79E50E5-3146-7CC9-FD8C-009FA5A44F1C}"/>
              </a:ext>
            </a:extLst>
          </p:cNvPr>
          <p:cNvSpPr>
            <a:spLocks noGrp="1"/>
          </p:cNvSpPr>
          <p:nvPr>
            <p:ph type="title"/>
          </p:nvPr>
        </p:nvSpPr>
        <p:spPr>
          <a:xfrm>
            <a:off x="473202" y="630936"/>
            <a:ext cx="4172309" cy="2632080"/>
          </a:xfrm>
          <a:noFill/>
        </p:spPr>
        <p:txBody>
          <a:bodyPr anchor="t">
            <a:normAutofit/>
          </a:bodyPr>
          <a:lstStyle/>
          <a:p>
            <a:pPr algn="l"/>
            <a:r>
              <a:rPr lang="en-US" sz="4200">
                <a:solidFill>
                  <a:schemeClr val="bg1"/>
                </a:solidFill>
              </a:rPr>
              <a:t>Objective</a:t>
            </a:r>
            <a:endParaRPr lang="en-IN" sz="4200">
              <a:solidFill>
                <a:schemeClr val="bg1"/>
              </a:solidFill>
            </a:endParaRPr>
          </a:p>
        </p:txBody>
      </p:sp>
      <p:sp>
        <p:nvSpPr>
          <p:cNvPr id="431" name="Rectangle 430">
            <a:extLst>
              <a:ext uri="{FF2B5EF4-FFF2-40B4-BE49-F238E27FC236}">
                <a16:creationId xmlns:a16="http://schemas.microsoft.com/office/drawing/2014/main" id="{FF0BDB76-BCEC-498E-BA26-C763CD9FA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479052" y="1131512"/>
            <a:ext cx="2796461" cy="533439"/>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3" name="Group 432">
            <a:extLst>
              <a:ext uri="{FF2B5EF4-FFF2-40B4-BE49-F238E27FC236}">
                <a16:creationId xmlns:a16="http://schemas.microsoft.com/office/drawing/2014/main" id="{DD8DF5DF-A251-4BC2-8965-4EDDD01FC5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444654" y="317578"/>
            <a:ext cx="411480" cy="549007"/>
            <a:chOff x="7029447" y="3514725"/>
            <a:chExt cx="1285875" cy="549007"/>
          </a:xfrm>
        </p:grpSpPr>
        <p:cxnSp>
          <p:nvCxnSpPr>
            <p:cNvPr id="434" name="Straight Connector 433">
              <a:extLst>
                <a:ext uri="{FF2B5EF4-FFF2-40B4-BE49-F238E27FC236}">
                  <a16:creationId xmlns:a16="http://schemas.microsoft.com/office/drawing/2014/main" id="{8930D52D-708D-43A1-B073-469EFDB020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C82491CB-6849-43BB-926B-D979A3DB09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71251642-9512-4A11-9670-BD1C3A9981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3D277633-FF55-420D-87BC-0CB11FD6D0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39" name="Rectangle 438">
            <a:extLst>
              <a:ext uri="{FF2B5EF4-FFF2-40B4-BE49-F238E27FC236}">
                <a16:creationId xmlns:a16="http://schemas.microsoft.com/office/drawing/2014/main" id="{1452CEF2-C9EC-4C15-99E4-C781AB08A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140785"/>
            <a:ext cx="4571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1" name="Group 440">
            <a:extLst>
              <a:ext uri="{FF2B5EF4-FFF2-40B4-BE49-F238E27FC236}">
                <a16:creationId xmlns:a16="http://schemas.microsoft.com/office/drawing/2014/main" id="{600459E6-26A3-4EAC-A34C-D0792D88CC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45785" y="5940560"/>
            <a:ext cx="1285875" cy="549007"/>
            <a:chOff x="7029447" y="3514725"/>
            <a:chExt cx="1285875" cy="549007"/>
          </a:xfrm>
        </p:grpSpPr>
        <p:cxnSp>
          <p:nvCxnSpPr>
            <p:cNvPr id="442" name="Straight Connector 441">
              <a:extLst>
                <a:ext uri="{FF2B5EF4-FFF2-40B4-BE49-F238E27FC236}">
                  <a16:creationId xmlns:a16="http://schemas.microsoft.com/office/drawing/2014/main" id="{1264D5E9-C8D4-444A-8B1B-C11FB47CBA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3DD99233-66AB-4E60-AF8A-A3259E6A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64E8492A-EE2A-4BE3-A4B2-2BCE77DA40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F222A220-AA24-4E60-83D6-D32FEB34D8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E086AE9C-A44F-2082-91BE-45DD5E386499}"/>
              </a:ext>
            </a:extLst>
          </p:cNvPr>
          <p:cNvSpPr>
            <a:spLocks noGrp="1"/>
          </p:cNvSpPr>
          <p:nvPr>
            <p:ph idx="1"/>
          </p:nvPr>
        </p:nvSpPr>
        <p:spPr>
          <a:xfrm>
            <a:off x="473202" y="2070802"/>
            <a:ext cx="5225634" cy="2731016"/>
          </a:xfrm>
          <a:noFill/>
        </p:spPr>
        <p:txBody>
          <a:bodyPr anchor="t">
            <a:normAutofit/>
          </a:bodyPr>
          <a:lstStyle/>
          <a:p>
            <a:pPr marL="0" indent="0">
              <a:buNone/>
            </a:pPr>
            <a:r>
              <a:rPr lang="en-US" sz="2400" b="1" dirty="0">
                <a:solidFill>
                  <a:schemeClr val="bg1"/>
                </a:solidFill>
              </a:rPr>
              <a:t>Develop machine learning models to perform sentiment analysis on customer reviews, assessing the number of positive reviews and determining the product's overall quality.</a:t>
            </a:r>
            <a:endParaRPr lang="en-IN" sz="2400" b="1" dirty="0">
              <a:solidFill>
                <a:schemeClr val="bg1"/>
              </a:solidFill>
            </a:endParaRPr>
          </a:p>
        </p:txBody>
      </p:sp>
      <p:pic>
        <p:nvPicPr>
          <p:cNvPr id="37" name="Graphic 36" descr="Robot">
            <a:extLst>
              <a:ext uri="{FF2B5EF4-FFF2-40B4-BE49-F238E27FC236}">
                <a16:creationId xmlns:a16="http://schemas.microsoft.com/office/drawing/2014/main" id="{65593530-48BF-84D4-101F-51093A24F8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57041" y="1894111"/>
            <a:ext cx="3100577" cy="3100577"/>
          </a:xfrm>
          <a:prstGeom prst="rect">
            <a:avLst/>
          </a:prstGeom>
        </p:spPr>
      </p:pic>
      <p:grpSp>
        <p:nvGrpSpPr>
          <p:cNvPr id="447" name="Group 446">
            <a:extLst>
              <a:ext uri="{FF2B5EF4-FFF2-40B4-BE49-F238E27FC236}">
                <a16:creationId xmlns:a16="http://schemas.microsoft.com/office/drawing/2014/main" id="{94F13521-5DF8-4DF5-A0B9-A718234B3A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5302357" y="851510"/>
            <a:ext cx="304800" cy="322326"/>
            <a:chOff x="215328" y="-46937"/>
            <a:chExt cx="304800" cy="2773841"/>
          </a:xfrm>
        </p:grpSpPr>
        <p:cxnSp>
          <p:nvCxnSpPr>
            <p:cNvPr id="448" name="Straight Connector 447">
              <a:extLst>
                <a:ext uri="{FF2B5EF4-FFF2-40B4-BE49-F238E27FC236}">
                  <a16:creationId xmlns:a16="http://schemas.microsoft.com/office/drawing/2014/main" id="{046D4DF8-1672-4FA2-9826-FE37087C6A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0B7A5B2F-EC14-4482-85C2-E1320F14D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AF6FC815-E502-44E9-B346-1E771A5E2E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A1DCBABB-A77B-43CF-94EF-B785F32C4F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7782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artoon of a robot thinking&#10;&#10;AI-generated content may be incorrect.">
            <a:extLst>
              <a:ext uri="{FF2B5EF4-FFF2-40B4-BE49-F238E27FC236}">
                <a16:creationId xmlns:a16="http://schemas.microsoft.com/office/drawing/2014/main" id="{3F9A389A-12F3-9940-C132-5D95225703AC}"/>
              </a:ext>
            </a:extLst>
          </p:cNvPr>
          <p:cNvPicPr>
            <a:picLocks noGrp="1" noChangeAspect="1"/>
          </p:cNvPicPr>
          <p:nvPr>
            <p:ph idx="1"/>
          </p:nvPr>
        </p:nvPicPr>
        <p:blipFill>
          <a:blip r:embed="rId2"/>
          <a:stretch>
            <a:fillRect/>
          </a:stretch>
        </p:blipFill>
        <p:spPr>
          <a:xfrm>
            <a:off x="1600200" y="457200"/>
            <a:ext cx="5943600" cy="5943600"/>
          </a:xfrm>
          <a:prstGeom prst="rect">
            <a:avLst/>
          </a:prstGeom>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242283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1" name="Rectangle 190">
            <a:extLst>
              <a:ext uri="{FF2B5EF4-FFF2-40B4-BE49-F238E27FC236}">
                <a16:creationId xmlns:a16="http://schemas.microsoft.com/office/drawing/2014/main" id="{94714483-7072-431F-9DBE-87F44E4D4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495892E1-F4A5-4991-AC52-4F417B14A2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5" name="Group 194">
            <a:extLst>
              <a:ext uri="{FF2B5EF4-FFF2-40B4-BE49-F238E27FC236}">
                <a16:creationId xmlns:a16="http://schemas.microsoft.com/office/drawing/2014/main" id="{ACF597F8-76AA-44FA-8E6A-06223B66C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75420"/>
            <a:ext cx="9036544" cy="4093306"/>
            <a:chOff x="1" y="2075420"/>
            <a:chExt cx="12048729" cy="4093306"/>
          </a:xfrm>
        </p:grpSpPr>
        <p:sp>
          <p:nvSpPr>
            <p:cNvPr id="196" name="Oval 195">
              <a:extLst>
                <a:ext uri="{FF2B5EF4-FFF2-40B4-BE49-F238E27FC236}">
                  <a16:creationId xmlns:a16="http://schemas.microsoft.com/office/drawing/2014/main" id="{A6E12753-0A63-43EE-B28A-C989D033E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a:extLst>
                <a:ext uri="{FF2B5EF4-FFF2-40B4-BE49-F238E27FC236}">
                  <a16:creationId xmlns:a16="http://schemas.microsoft.com/office/drawing/2014/main" id="{B26FA385-76DA-40E9-9257-AA3E07FF6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a:extLst>
                <a:ext uri="{FF2B5EF4-FFF2-40B4-BE49-F238E27FC236}">
                  <a16:creationId xmlns:a16="http://schemas.microsoft.com/office/drawing/2014/main" id="{262D75CA-F374-4878-8106-3EA5E970D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a:extLst>
                <a:ext uri="{FF2B5EF4-FFF2-40B4-BE49-F238E27FC236}">
                  <a16:creationId xmlns:a16="http://schemas.microsoft.com/office/drawing/2014/main" id="{938667A5-74E3-4EFD-8C45-F48F47427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0" name="Oval 199">
              <a:extLst>
                <a:ext uri="{FF2B5EF4-FFF2-40B4-BE49-F238E27FC236}">
                  <a16:creationId xmlns:a16="http://schemas.microsoft.com/office/drawing/2014/main" id="{31512EE2-F4CC-4E18-9CDA-B92C111224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a:extLst>
                <a:ext uri="{FF2B5EF4-FFF2-40B4-BE49-F238E27FC236}">
                  <a16:creationId xmlns:a16="http://schemas.microsoft.com/office/drawing/2014/main" id="{B99E503B-9B4D-4EE3-A50F-15AC374F6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E2683E3F-F855-4549-84F8-42064EC0F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479052" y="1131512"/>
            <a:ext cx="2796461" cy="533439"/>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 name="Group 204">
            <a:extLst>
              <a:ext uri="{FF2B5EF4-FFF2-40B4-BE49-F238E27FC236}">
                <a16:creationId xmlns:a16="http://schemas.microsoft.com/office/drawing/2014/main" id="{8FC90B1E-0223-4440-AF22-8F32F6F0C7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444654" y="317578"/>
            <a:ext cx="411480" cy="549007"/>
            <a:chOff x="7029447" y="3514725"/>
            <a:chExt cx="1285875" cy="549007"/>
          </a:xfrm>
        </p:grpSpPr>
        <p:cxnSp>
          <p:nvCxnSpPr>
            <p:cNvPr id="206" name="Straight Connector 205">
              <a:extLst>
                <a:ext uri="{FF2B5EF4-FFF2-40B4-BE49-F238E27FC236}">
                  <a16:creationId xmlns:a16="http://schemas.microsoft.com/office/drawing/2014/main" id="{A2D2E879-0004-4D84-8137-1C09334038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3BE75A2-0D83-4F8E-84CC-D3BCD565B1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E90F7F49-1039-49EF-A9BD-153DB590B6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9E85F508-9EA4-4B4D-8171-648670650E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11" name="Rectangle 210">
            <a:extLst>
              <a:ext uri="{FF2B5EF4-FFF2-40B4-BE49-F238E27FC236}">
                <a16:creationId xmlns:a16="http://schemas.microsoft.com/office/drawing/2014/main" id="{832F3179-0CD5-40C8-9939-D8355006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140785"/>
            <a:ext cx="4571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3" name="Group 212">
            <a:extLst>
              <a:ext uri="{FF2B5EF4-FFF2-40B4-BE49-F238E27FC236}">
                <a16:creationId xmlns:a16="http://schemas.microsoft.com/office/drawing/2014/main" id="{11CE155D-684B-4F5E-B835-C52765E310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45785" y="5940560"/>
            <a:ext cx="1285875" cy="549007"/>
            <a:chOff x="7029447" y="3514725"/>
            <a:chExt cx="1285875" cy="549007"/>
          </a:xfrm>
        </p:grpSpPr>
        <p:cxnSp>
          <p:nvCxnSpPr>
            <p:cNvPr id="214" name="Straight Connector 213">
              <a:extLst>
                <a:ext uri="{FF2B5EF4-FFF2-40B4-BE49-F238E27FC236}">
                  <a16:creationId xmlns:a16="http://schemas.microsoft.com/office/drawing/2014/main" id="{04F84AF8-E1A7-41D4-A102-8F87CAE37E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4ED126F1-DB23-4314-B6C7-FE89E3C581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8ACB2B6F-8883-4A00-88DD-98CDDD46B8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3B9A2180-808A-4423-BB2B-6464B29000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68" name="Graphic 67" descr="Financial">
            <a:extLst>
              <a:ext uri="{FF2B5EF4-FFF2-40B4-BE49-F238E27FC236}">
                <a16:creationId xmlns:a16="http://schemas.microsoft.com/office/drawing/2014/main" id="{04370F61-7D57-4DE0-2B41-AA5AD3F8893F}"/>
              </a:ext>
            </a:extLst>
          </p:cNvPr>
          <p:cNvPicPr>
            <a:picLocks noChangeAspect="1"/>
          </p:cNvPicPr>
          <p:nvPr/>
        </p:nvPicPr>
        <p:blipFill>
          <a:blip r:embed="rId2">
            <a:duotone>
              <a:prstClr val="black"/>
              <a:schemeClr val="bg1">
                <a:tint val="45000"/>
                <a:satMod val="400000"/>
              </a:schemeClr>
            </a:duotone>
            <a:alphaModFix amt="2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89309" y="29548"/>
            <a:ext cx="6013845" cy="6013845"/>
          </a:xfrm>
          <a:prstGeom prst="rect">
            <a:avLst/>
          </a:prstGeom>
        </p:spPr>
      </p:pic>
      <p:sp>
        <p:nvSpPr>
          <p:cNvPr id="6" name="Title 5">
            <a:extLst>
              <a:ext uri="{FF2B5EF4-FFF2-40B4-BE49-F238E27FC236}">
                <a16:creationId xmlns:a16="http://schemas.microsoft.com/office/drawing/2014/main" id="{C0A2655C-D95B-2A82-6BCF-858CD4DD3A6F}"/>
              </a:ext>
            </a:extLst>
          </p:cNvPr>
          <p:cNvSpPr>
            <a:spLocks noGrp="1"/>
          </p:cNvSpPr>
          <p:nvPr>
            <p:ph type="ctrTitle"/>
          </p:nvPr>
        </p:nvSpPr>
        <p:spPr>
          <a:xfrm>
            <a:off x="1963629" y="630935"/>
            <a:ext cx="5486400" cy="1130899"/>
          </a:xfrm>
          <a:noFill/>
        </p:spPr>
        <p:txBody>
          <a:bodyPr anchor="b">
            <a:normAutofit/>
          </a:bodyPr>
          <a:lstStyle/>
          <a:p>
            <a:r>
              <a:rPr lang="en-IN" sz="4800" dirty="0">
                <a:solidFill>
                  <a:schemeClr val="bg1"/>
                </a:solidFill>
              </a:rPr>
              <a:t>Business Problem</a:t>
            </a:r>
          </a:p>
        </p:txBody>
      </p:sp>
      <p:sp>
        <p:nvSpPr>
          <p:cNvPr id="7" name="Subtitle 6">
            <a:extLst>
              <a:ext uri="{FF2B5EF4-FFF2-40B4-BE49-F238E27FC236}">
                <a16:creationId xmlns:a16="http://schemas.microsoft.com/office/drawing/2014/main" id="{DD38675E-FF8A-0FB7-BFB2-601EFCBFED41}"/>
              </a:ext>
            </a:extLst>
          </p:cNvPr>
          <p:cNvSpPr>
            <a:spLocks noGrp="1"/>
          </p:cNvSpPr>
          <p:nvPr>
            <p:ph type="subTitle" idx="1"/>
          </p:nvPr>
        </p:nvSpPr>
        <p:spPr>
          <a:xfrm>
            <a:off x="98797" y="2714651"/>
            <a:ext cx="8956550" cy="3328742"/>
          </a:xfrm>
          <a:noFill/>
        </p:spPr>
        <p:txBody>
          <a:bodyPr anchor="t">
            <a:normAutofit/>
          </a:bodyPr>
          <a:lstStyle/>
          <a:p>
            <a:pPr>
              <a:lnSpc>
                <a:spcPct val="90000"/>
              </a:lnSpc>
            </a:pPr>
            <a:r>
              <a:rPr lang="en-US" sz="2800" dirty="0">
                <a:solidFill>
                  <a:schemeClr val="bg1"/>
                </a:solidFill>
              </a:rPr>
              <a:t>Companies selling smart devices, like Amazon Alexa, receive thousands of customer reviews, making it challenging to manually analyze feedback and identify areas for product improvement. Without an automated system, businesses may struggle to extract meaningful insights, resulting in missed opportunities to enhance product quality, customer satisfaction, and market competitiveness.</a:t>
            </a:r>
            <a:endParaRPr lang="en-IN" sz="2800" dirty="0">
              <a:solidFill>
                <a:schemeClr val="bg1"/>
              </a:solidFill>
            </a:endParaRPr>
          </a:p>
        </p:txBody>
      </p:sp>
    </p:spTree>
    <p:extLst>
      <p:ext uri="{BB962C8B-B14F-4D97-AF65-F5344CB8AC3E}">
        <p14:creationId xmlns:p14="http://schemas.microsoft.com/office/powerpoint/2010/main" val="2369672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DA020-87C2-D7E1-F137-C00A3EBEA2AF}"/>
              </a:ext>
            </a:extLst>
          </p:cNvPr>
          <p:cNvSpPr>
            <a:spLocks noGrp="1"/>
          </p:cNvSpPr>
          <p:nvPr>
            <p:ph type="title"/>
          </p:nvPr>
        </p:nvSpPr>
        <p:spPr/>
        <p:txBody>
          <a:bodyPr/>
          <a:lstStyle/>
          <a:p>
            <a:r>
              <a:rPr lang="en-IN" dirty="0"/>
              <a:t>Proposed Solution</a:t>
            </a:r>
          </a:p>
        </p:txBody>
      </p:sp>
      <p:graphicFrame>
        <p:nvGraphicFramePr>
          <p:cNvPr id="5" name="Content Placeholder 2">
            <a:extLst>
              <a:ext uri="{FF2B5EF4-FFF2-40B4-BE49-F238E27FC236}">
                <a16:creationId xmlns:a16="http://schemas.microsoft.com/office/drawing/2014/main" id="{9E79D6E1-C064-58F0-AA2C-4EABD248A26B}"/>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2645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business model&#10;&#10;AI-generated content may be incorrect.">
            <a:extLst>
              <a:ext uri="{FF2B5EF4-FFF2-40B4-BE49-F238E27FC236}">
                <a16:creationId xmlns:a16="http://schemas.microsoft.com/office/drawing/2014/main" id="{6F2BA6CA-7693-048E-F2E1-A677BE120005}"/>
              </a:ext>
            </a:extLst>
          </p:cNvPr>
          <p:cNvPicPr>
            <a:picLocks noChangeAspect="1"/>
          </p:cNvPicPr>
          <p:nvPr/>
        </p:nvPicPr>
        <p:blipFill>
          <a:blip r:embed="rId2"/>
          <a:srcRect l="758" r="1" b="1"/>
          <a:stretch/>
        </p:blipFill>
        <p:spPr>
          <a:xfrm>
            <a:off x="626483" y="457200"/>
            <a:ext cx="7891034" cy="5943600"/>
          </a:xfrm>
          <a:prstGeom prst="rect">
            <a:avLst/>
          </a:prstGeom>
        </p:spPr>
      </p:pic>
    </p:spTree>
    <p:extLst>
      <p:ext uri="{BB962C8B-B14F-4D97-AF65-F5344CB8AC3E}">
        <p14:creationId xmlns:p14="http://schemas.microsoft.com/office/powerpoint/2010/main" val="3762712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1">
            <a:extLst>
              <a:ext uri="{FF2B5EF4-FFF2-40B4-BE49-F238E27FC236}">
                <a16:creationId xmlns:a16="http://schemas.microsoft.com/office/drawing/2014/main" id="{3AE00EDB-0C44-1BAF-78D0-1E67D7461D60}"/>
              </a:ext>
            </a:extLst>
          </p:cNvPr>
          <p:cNvSpPr>
            <a:spLocks noGrp="1" noChangeArrowheads="1"/>
          </p:cNvSpPr>
          <p:nvPr>
            <p:ph type="title"/>
          </p:nvPr>
        </p:nvSpPr>
        <p:spPr bwMode="auto">
          <a:xfrm>
            <a:off x="1037673" y="348865"/>
            <a:ext cx="7288583" cy="157644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None/>
              <a:tabLst/>
            </a:pPr>
            <a:endParaRPr kumimoji="0" lang="en-US" altLang="en-US" sz="3500" b="0" i="0" u="none" strike="noStrike" cap="none" normalizeH="0" baseline="0">
              <a:ln>
                <a:noFill/>
              </a:ln>
              <a:solidFill>
                <a:srgbClr val="FFFFFF"/>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tabLst/>
            </a:pPr>
            <a:r>
              <a:rPr kumimoji="0" lang="en-US" altLang="en-US" sz="3500" b="0" i="0" u="none" strike="noStrike" cap="none" normalizeH="0" baseline="0">
                <a:ln>
                  <a:noFill/>
                </a:ln>
                <a:solidFill>
                  <a:srgbClr val="FFFFFF"/>
                </a:solidFill>
                <a:effectLst/>
                <a:latin typeface="Arial" panose="020B0604020202020204" pitchFamily="34" charset="0"/>
              </a:rPr>
              <a:t>What We Learned </a:t>
            </a:r>
          </a:p>
          <a:p>
            <a:pPr marL="0" marR="0" lvl="0" indent="0" defTabSz="914400" rtl="0" eaLnBrk="0" fontAlgn="base" latinLnBrk="0" hangingPunct="0">
              <a:spcBef>
                <a:spcPct val="0"/>
              </a:spcBef>
              <a:spcAft>
                <a:spcPct val="0"/>
              </a:spcAft>
              <a:buClrTx/>
              <a:buSzTx/>
              <a:buFontTx/>
              <a:buChar char="•"/>
              <a:tabLst/>
            </a:pPr>
            <a:endParaRPr kumimoji="0" lang="en-US" altLang="en-US" sz="3500" b="0" i="0" u="none" strike="noStrike" cap="none" normalizeH="0" baseline="0">
              <a:ln>
                <a:noFill/>
              </a:ln>
              <a:solidFill>
                <a:srgbClr val="FFFFFF"/>
              </a:solidFill>
              <a:effectLst/>
              <a:latin typeface="Arial" panose="020B0604020202020204" pitchFamily="34" charset="0"/>
            </a:endParaRPr>
          </a:p>
        </p:txBody>
      </p:sp>
      <p:graphicFrame>
        <p:nvGraphicFramePr>
          <p:cNvPr id="7" name="Rectangle 2">
            <a:extLst>
              <a:ext uri="{FF2B5EF4-FFF2-40B4-BE49-F238E27FC236}">
                <a16:creationId xmlns:a16="http://schemas.microsoft.com/office/drawing/2014/main" id="{731BDCBA-E867-C361-E764-6D1292816B40}"/>
              </a:ext>
            </a:extLst>
          </p:cNvPr>
          <p:cNvGraphicFramePr>
            <a:graphicFrameLocks noGrp="1"/>
          </p:cNvGraphicFramePr>
          <p:nvPr>
            <p:ph idx="1"/>
            <p:extLst>
              <p:ext uri="{D42A27DB-BD31-4B8C-83A1-F6EECF244321}">
                <p14:modId xmlns:p14="http://schemas.microsoft.com/office/powerpoint/2010/main" val="2392163704"/>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9447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948854D2-232D-AA89-4421-13C054CC05CE}"/>
              </a:ext>
            </a:extLst>
          </p:cNvPr>
          <p:cNvSpPr txBox="1"/>
          <p:nvPr/>
        </p:nvSpPr>
        <p:spPr>
          <a:xfrm>
            <a:off x="495031" y="891652"/>
            <a:ext cx="3309016" cy="3030724"/>
          </a:xfrm>
          <a:prstGeom prst="rect">
            <a:avLst/>
          </a:prstGeom>
        </p:spPr>
        <p:txBody>
          <a:bodyPr vert="horz" lIns="91440" tIns="45720" rIns="91440" bIns="45720" rtlCol="0" anchor="b">
            <a:normAutofit/>
          </a:bodyPr>
          <a:lstStyle/>
          <a:p>
            <a:pPr algn="r" defTabSz="914400">
              <a:lnSpc>
                <a:spcPct val="90000"/>
              </a:lnSpc>
              <a:spcBef>
                <a:spcPct val="0"/>
              </a:spcBef>
              <a:spcAft>
                <a:spcPts val="600"/>
              </a:spcAft>
            </a:pPr>
            <a:r>
              <a:rPr lang="en-US" sz="3500" kern="1200" dirty="0">
                <a:solidFill>
                  <a:srgbClr val="FFFFFF"/>
                </a:solidFill>
                <a:latin typeface="+mj-lt"/>
                <a:ea typeface="+mj-ea"/>
                <a:cs typeface="+mj-cs"/>
              </a:rPr>
              <a:t>Thank you!!!</a:t>
            </a:r>
          </a:p>
        </p:txBody>
      </p:sp>
      <p:pic>
        <p:nvPicPr>
          <p:cNvPr id="23" name="Graphic 22" descr="Smiling Face with No Fill">
            <a:extLst>
              <a:ext uri="{FF2B5EF4-FFF2-40B4-BE49-F238E27FC236}">
                <a16:creationId xmlns:a16="http://schemas.microsoft.com/office/drawing/2014/main" id="{DA22879D-0436-D111-F822-C65B49228A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0" y="1303655"/>
            <a:ext cx="4206240" cy="4206240"/>
          </a:xfrm>
          <a:prstGeom prst="rect">
            <a:avLst/>
          </a:prstGeom>
        </p:spPr>
      </p:pic>
    </p:spTree>
    <p:extLst>
      <p:ext uri="{BB962C8B-B14F-4D97-AF65-F5344CB8AC3E}">
        <p14:creationId xmlns:p14="http://schemas.microsoft.com/office/powerpoint/2010/main" val="2499457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183</TotalTime>
  <Words>243</Words>
  <Application>Microsoft Office PowerPoint</Application>
  <PresentationFormat>On-screen Show (4:3)</PresentationFormat>
  <Paragraphs>20</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TEAM 03 SECTION 01 (MEET THE TEAM)</vt:lpstr>
      <vt:lpstr>Objective</vt:lpstr>
      <vt:lpstr>PowerPoint Presentation</vt:lpstr>
      <vt:lpstr>Business Problem</vt:lpstr>
      <vt:lpstr>Proposed Solution</vt:lpstr>
      <vt:lpstr>PowerPoint Presentation</vt:lpstr>
      <vt:lpstr> What We Learned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Akash v</cp:lastModifiedBy>
  <cp:revision>6</cp:revision>
  <dcterms:created xsi:type="dcterms:W3CDTF">2013-01-27T09:14:16Z</dcterms:created>
  <dcterms:modified xsi:type="dcterms:W3CDTF">2025-03-05T04:54:58Z</dcterms:modified>
  <cp:category/>
</cp:coreProperties>
</file>